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408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AZURE DEVOPS PROJECT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94360"/>
            <a:ext cx="14081760" cy="228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27432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A1A1A"/>
                </a:solidFill>
              </a:defRPr>
            </a:pPr>
            <a:r>
              <a:t>Enterprise Data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731520"/>
            <a:ext cx="23774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74980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A1A1A"/>
                </a:solidFill>
              </a:defRPr>
            </a:pPr>
            <a:r>
              <a:t>Private Markets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731520"/>
            <a:ext cx="23774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74980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A1A1A"/>
                </a:solidFill>
              </a:defRPr>
            </a:pPr>
            <a:r>
              <a:t>Corporate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731520"/>
            <a:ext cx="27432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7498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A1A1A"/>
                </a:solidFill>
              </a:defRPr>
            </a:pPr>
            <a:r>
              <a:t>PSA RM Value 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47120" y="731520"/>
            <a:ext cx="23774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0" y="74980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A1A1A"/>
                </a:solidFill>
              </a:defRPr>
            </a:pPr>
            <a:r>
              <a:t>Alchemy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188720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88888"/>
                </a:solidFill>
              </a:defRPr>
            </a:pPr>
            <a:r>
              <a:t>AZURE DEVOPS REPOS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280160"/>
            <a:ext cx="12344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1444752"/>
            <a:ext cx="2743200" cy="1005840"/>
          </a:xfrm>
          <a:prstGeom prst="roundRect">
            <a:avLst/>
          </a:prstGeom>
          <a:solidFill>
            <a:srgbClr val="E6F1FB"/>
          </a:solidFill>
          <a:ln w="9525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5179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447C"/>
                </a:solidFill>
              </a:defRPr>
            </a:pPr>
            <a:r>
              <a:t>Repos</a:t>
            </a:r>
          </a:p>
        </p:txBody>
      </p:sp>
      <p:sp>
        <p:nvSpPr>
          <p:cNvPr id="18" name="Oval 17"/>
          <p:cNvSpPr/>
          <p:nvPr/>
        </p:nvSpPr>
        <p:spPr>
          <a:xfrm>
            <a:off x="411479" y="1801368"/>
            <a:ext cx="54864" cy="54864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174650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85FA5"/>
                </a:solidFill>
              </a:defRPr>
            </a:pPr>
            <a:r>
              <a:t>FW.Hummingbird</a:t>
            </a:r>
          </a:p>
        </p:txBody>
      </p:sp>
      <p:sp>
        <p:nvSpPr>
          <p:cNvPr id="20" name="Oval 19"/>
          <p:cNvSpPr/>
          <p:nvPr/>
        </p:nvSpPr>
        <p:spPr>
          <a:xfrm>
            <a:off x="411479" y="1984248"/>
            <a:ext cx="54864" cy="54864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192938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85FA5"/>
                </a:solidFill>
              </a:defRPr>
            </a:pPr>
            <a:r>
              <a:t>ChangeRequestForDatabricks</a:t>
            </a:r>
          </a:p>
        </p:txBody>
      </p:sp>
      <p:sp>
        <p:nvSpPr>
          <p:cNvPr id="22" name="Oval 21"/>
          <p:cNvSpPr/>
          <p:nvPr/>
        </p:nvSpPr>
        <p:spPr>
          <a:xfrm>
            <a:off x="411479" y="2167128"/>
            <a:ext cx="54864" cy="54864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11226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85FA5"/>
                </a:solidFill>
              </a:defRPr>
            </a:pPr>
            <a:r>
              <a:t>AnalyticsHub.Databricks.Sage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1444752"/>
            <a:ext cx="2377440" cy="1005840"/>
          </a:xfrm>
          <a:prstGeom prst="roundRect">
            <a:avLst/>
          </a:prstGeom>
          <a:solidFill>
            <a:srgbClr val="E6F1FB"/>
          </a:solidFill>
          <a:ln w="9525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15179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447C"/>
                </a:solidFill>
              </a:defRPr>
            </a:pPr>
            <a:r>
              <a:t>Repo</a:t>
            </a:r>
          </a:p>
        </p:txBody>
      </p:sp>
      <p:sp>
        <p:nvSpPr>
          <p:cNvPr id="26" name="Oval 25"/>
          <p:cNvSpPr/>
          <p:nvPr/>
        </p:nvSpPr>
        <p:spPr>
          <a:xfrm>
            <a:off x="3337560" y="1801368"/>
            <a:ext cx="54864" cy="54864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6432" y="174650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85FA5"/>
                </a:solidFill>
              </a:defRPr>
            </a:pPr>
            <a:r>
              <a:t>Private Markets Databricks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1444752"/>
            <a:ext cx="2377440" cy="1005840"/>
          </a:xfrm>
          <a:prstGeom prst="roundRect">
            <a:avLst/>
          </a:prstGeom>
          <a:solidFill>
            <a:srgbClr val="E6F1FB"/>
          </a:solidFill>
          <a:ln w="9525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15179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447C"/>
                </a:solidFill>
              </a:defRPr>
            </a:pPr>
            <a:r>
              <a:t>Repo</a:t>
            </a:r>
          </a:p>
        </p:txBody>
      </p:sp>
      <p:sp>
        <p:nvSpPr>
          <p:cNvPr id="30" name="Oval 29"/>
          <p:cNvSpPr/>
          <p:nvPr/>
        </p:nvSpPr>
        <p:spPr>
          <a:xfrm>
            <a:off x="5897880" y="1801368"/>
            <a:ext cx="54864" cy="54864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174650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85FA5"/>
                </a:solidFill>
              </a:defRPr>
            </a:pPr>
            <a:r>
              <a:t>Corporate Market Databricks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444752"/>
            <a:ext cx="2743200" cy="1005840"/>
          </a:xfrm>
          <a:prstGeom prst="roundRect">
            <a:avLst/>
          </a:prstGeom>
          <a:solidFill>
            <a:srgbClr val="E6F1FB"/>
          </a:solidFill>
          <a:ln w="9525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15179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447C"/>
                </a:solidFill>
              </a:defRPr>
            </a:pPr>
            <a:r>
              <a:t>Repos</a:t>
            </a:r>
          </a:p>
        </p:txBody>
      </p:sp>
      <p:sp>
        <p:nvSpPr>
          <p:cNvPr id="34" name="Oval 33"/>
          <p:cNvSpPr/>
          <p:nvPr/>
        </p:nvSpPr>
        <p:spPr>
          <a:xfrm>
            <a:off x="8458200" y="1801368"/>
            <a:ext cx="54864" cy="54864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174650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85FA5"/>
                </a:solidFill>
              </a:defRPr>
            </a:pPr>
            <a:r>
              <a:t>Quantlake</a:t>
            </a:r>
          </a:p>
        </p:txBody>
      </p:sp>
      <p:sp>
        <p:nvSpPr>
          <p:cNvPr id="36" name="Oval 35"/>
          <p:cNvSpPr/>
          <p:nvPr/>
        </p:nvSpPr>
        <p:spPr>
          <a:xfrm>
            <a:off x="8458200" y="1984248"/>
            <a:ext cx="54864" cy="54864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7072" y="192938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85FA5"/>
                </a:solidFill>
              </a:defRPr>
            </a:pPr>
            <a:r>
              <a:t>Crisp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47120" y="1444752"/>
            <a:ext cx="2377440" cy="1005840"/>
          </a:xfrm>
          <a:prstGeom prst="roundRect">
            <a:avLst/>
          </a:prstGeom>
          <a:solidFill>
            <a:srgbClr val="E6F1FB"/>
          </a:solidFill>
          <a:ln w="9525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84280" y="15179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C447C"/>
                </a:solidFill>
              </a:defRPr>
            </a:pPr>
            <a:r>
              <a:t>Repo</a:t>
            </a:r>
          </a:p>
        </p:txBody>
      </p:sp>
      <p:sp>
        <p:nvSpPr>
          <p:cNvPr id="40" name="Oval 39"/>
          <p:cNvSpPr/>
          <p:nvPr/>
        </p:nvSpPr>
        <p:spPr>
          <a:xfrm>
            <a:off x="11384280" y="1801368"/>
            <a:ext cx="54864" cy="54864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03152" y="174650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85FA5"/>
                </a:solidFill>
              </a:defRPr>
            </a:pPr>
            <a:r>
              <a:t>Alchemy Databricks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1591056" y="2496312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4334256" y="2496312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own Arrow 43"/>
          <p:cNvSpPr/>
          <p:nvPr/>
        </p:nvSpPr>
        <p:spPr>
          <a:xfrm>
            <a:off x="6894576" y="2496312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own Arrow 44"/>
          <p:cNvSpPr/>
          <p:nvPr/>
        </p:nvSpPr>
        <p:spPr>
          <a:xfrm>
            <a:off x="9637776" y="2496312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12380976" y="2496312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27249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88888"/>
                </a:solidFill>
              </a:defRPr>
            </a:pPr>
            <a:r>
              <a:t>PR APPROVERS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2816352"/>
            <a:ext cx="12344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74320" y="2980944"/>
            <a:ext cx="2743200" cy="54864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30540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C3489"/>
                </a:solidFill>
              </a:defRPr>
            </a:pPr>
            <a:r>
              <a:t>Approval group</a:t>
            </a:r>
          </a:p>
        </p:txBody>
      </p:sp>
      <p:sp>
        <p:nvSpPr>
          <p:cNvPr id="51" name="Oval 50"/>
          <p:cNvSpPr/>
          <p:nvPr/>
        </p:nvSpPr>
        <p:spPr>
          <a:xfrm>
            <a:off x="411479" y="3337560"/>
            <a:ext cx="54864" cy="54864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28269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34AB7"/>
                </a:solidFill>
              </a:defRPr>
            </a:pPr>
            <a:r>
              <a:t>Enterprise Data Platform Approvers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0" y="2980944"/>
            <a:ext cx="2377440" cy="54864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7560" y="305409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C3489"/>
                </a:solidFill>
              </a:defRPr>
            </a:pPr>
            <a:r>
              <a:t>Approval group</a:t>
            </a:r>
          </a:p>
        </p:txBody>
      </p:sp>
      <p:sp>
        <p:nvSpPr>
          <p:cNvPr id="55" name="Oval 54"/>
          <p:cNvSpPr/>
          <p:nvPr/>
        </p:nvSpPr>
        <p:spPr>
          <a:xfrm>
            <a:off x="3337560" y="3337560"/>
            <a:ext cx="54864" cy="54864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56432" y="328269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34AB7"/>
                </a:solidFill>
              </a:defRPr>
            </a:pPr>
            <a:r>
              <a:t>Private Markets Databricks Approver Group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60720" y="2980944"/>
            <a:ext cx="2377440" cy="54864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97880" y="305409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C3489"/>
                </a:solidFill>
              </a:defRPr>
            </a:pPr>
            <a:r>
              <a:t>Approval group</a:t>
            </a:r>
          </a:p>
        </p:txBody>
      </p:sp>
      <p:sp>
        <p:nvSpPr>
          <p:cNvPr id="59" name="Oval 58"/>
          <p:cNvSpPr/>
          <p:nvPr/>
        </p:nvSpPr>
        <p:spPr>
          <a:xfrm>
            <a:off x="5897880" y="3337560"/>
            <a:ext cx="54864" cy="54864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16752" y="328269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34AB7"/>
                </a:solidFill>
              </a:defRPr>
            </a:pPr>
            <a:r>
              <a:t>Corporate Market Databricks Approval Group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21040" y="2980944"/>
            <a:ext cx="2743200" cy="54864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8200" y="30540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C3489"/>
                </a:solidFill>
              </a:defRPr>
            </a:pPr>
            <a:r>
              <a:t>Approval group</a:t>
            </a:r>
          </a:p>
        </p:txBody>
      </p:sp>
      <p:sp>
        <p:nvSpPr>
          <p:cNvPr id="63" name="Oval 62"/>
          <p:cNvSpPr/>
          <p:nvPr/>
        </p:nvSpPr>
        <p:spPr>
          <a:xfrm>
            <a:off x="8458200" y="3337560"/>
            <a:ext cx="54864" cy="54864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77072" y="328269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34AB7"/>
                </a:solidFill>
              </a:defRPr>
            </a:pPr>
            <a:r>
              <a:t>PSA RM Value Stream Approval Group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247120" y="2980944"/>
            <a:ext cx="2377440" cy="54864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384280" y="305409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C3489"/>
                </a:solidFill>
              </a:defRPr>
            </a:pPr>
            <a:r>
              <a:t>Approval group</a:t>
            </a:r>
          </a:p>
        </p:txBody>
      </p:sp>
      <p:sp>
        <p:nvSpPr>
          <p:cNvPr id="67" name="Oval 66"/>
          <p:cNvSpPr/>
          <p:nvPr/>
        </p:nvSpPr>
        <p:spPr>
          <a:xfrm>
            <a:off x="11384280" y="3337560"/>
            <a:ext cx="54864" cy="54864"/>
          </a:xfrm>
          <a:prstGeom prst="ellips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503152" y="328269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34AB7"/>
                </a:solidFill>
              </a:defRPr>
            </a:pPr>
            <a:r>
              <a:t>Alchemy Approval Group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1591056" y="3575304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own Arrow 69"/>
          <p:cNvSpPr/>
          <p:nvPr/>
        </p:nvSpPr>
        <p:spPr>
          <a:xfrm>
            <a:off x="4334256" y="3575304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own Arrow 70"/>
          <p:cNvSpPr/>
          <p:nvPr/>
        </p:nvSpPr>
        <p:spPr>
          <a:xfrm>
            <a:off x="6894576" y="3575304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own Arrow 71"/>
          <p:cNvSpPr/>
          <p:nvPr/>
        </p:nvSpPr>
        <p:spPr>
          <a:xfrm>
            <a:off x="9637776" y="3575304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own Arrow 72"/>
          <p:cNvSpPr/>
          <p:nvPr/>
        </p:nvSpPr>
        <p:spPr>
          <a:xfrm>
            <a:off x="12380976" y="3575304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3803904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88888"/>
                </a:solidFill>
              </a:defRPr>
            </a:pPr>
            <a:r>
              <a:t>SERVICENOW CONFIG ITEMS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0" y="3895344"/>
            <a:ext cx="12344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74320" y="4059936"/>
            <a:ext cx="2743200" cy="1371600"/>
          </a:xfrm>
          <a:prstGeom prst="roundRect">
            <a:avLst/>
          </a:prstGeom>
          <a:solidFill>
            <a:srgbClr val="FAECE7"/>
          </a:solidFill>
          <a:ln w="9525">
            <a:solidFill>
              <a:srgbClr val="F09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79" y="41330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2B13"/>
                </a:solidFill>
              </a:defRPr>
            </a:pPr>
            <a:r>
              <a:t>Configuration items</a:t>
            </a:r>
          </a:p>
        </p:txBody>
      </p:sp>
      <p:sp>
        <p:nvSpPr>
          <p:cNvPr id="78" name="Oval 77"/>
          <p:cNvSpPr/>
          <p:nvPr/>
        </p:nvSpPr>
        <p:spPr>
          <a:xfrm>
            <a:off x="411479" y="441655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" y="43616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Data Hubs</a:t>
            </a:r>
          </a:p>
        </p:txBody>
      </p:sp>
      <p:sp>
        <p:nvSpPr>
          <p:cNvPr id="80" name="Oval 79"/>
          <p:cNvSpPr/>
          <p:nvPr/>
        </p:nvSpPr>
        <p:spPr>
          <a:xfrm>
            <a:off x="411479" y="459943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" y="454456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Data Value Streams</a:t>
            </a:r>
          </a:p>
        </p:txBody>
      </p:sp>
      <p:sp>
        <p:nvSpPr>
          <p:cNvPr id="82" name="Oval 81"/>
          <p:cNvSpPr/>
          <p:nvPr/>
        </p:nvSpPr>
        <p:spPr>
          <a:xfrm>
            <a:off x="411479" y="478231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" y="472744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Data Interfaces</a:t>
            </a:r>
          </a:p>
        </p:txBody>
      </p:sp>
      <p:sp>
        <p:nvSpPr>
          <p:cNvPr id="84" name="Oval 83"/>
          <p:cNvSpPr/>
          <p:nvPr/>
        </p:nvSpPr>
        <p:spPr>
          <a:xfrm>
            <a:off x="411479" y="496519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0352" y="491032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Data APIs</a:t>
            </a:r>
          </a:p>
        </p:txBody>
      </p:sp>
      <p:sp>
        <p:nvSpPr>
          <p:cNvPr id="86" name="Oval 85"/>
          <p:cNvSpPr/>
          <p:nvPr/>
        </p:nvSpPr>
        <p:spPr>
          <a:xfrm>
            <a:off x="411479" y="514807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" y="509320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Sage</a:t>
            </a:r>
          </a:p>
        </p:txBody>
      </p:sp>
      <p:sp>
        <p:nvSpPr>
          <p:cNvPr id="88" name="Oval 87"/>
          <p:cNvSpPr/>
          <p:nvPr/>
        </p:nvSpPr>
        <p:spPr>
          <a:xfrm>
            <a:off x="411479" y="533095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0352" y="52760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Core Platform (Hummingbird)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200400" y="4059936"/>
            <a:ext cx="2377440" cy="1371600"/>
          </a:xfrm>
          <a:prstGeom prst="roundRect">
            <a:avLst/>
          </a:prstGeom>
          <a:solidFill>
            <a:srgbClr val="FAECE7"/>
          </a:solidFill>
          <a:ln w="9525">
            <a:solidFill>
              <a:srgbClr val="F09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37560" y="4133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2B13"/>
                </a:solidFill>
              </a:defRPr>
            </a:pPr>
            <a:r>
              <a:t>Configuration item</a:t>
            </a:r>
          </a:p>
        </p:txBody>
      </p:sp>
      <p:sp>
        <p:nvSpPr>
          <p:cNvPr id="92" name="Oval 91"/>
          <p:cNvSpPr/>
          <p:nvPr/>
        </p:nvSpPr>
        <p:spPr>
          <a:xfrm>
            <a:off x="3337560" y="441655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56432" y="436168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Databricks Private Markets Workspace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760720" y="4059936"/>
            <a:ext cx="2377440" cy="1371600"/>
          </a:xfrm>
          <a:prstGeom prst="roundRect">
            <a:avLst/>
          </a:prstGeom>
          <a:solidFill>
            <a:srgbClr val="FAECE7"/>
          </a:solidFill>
          <a:ln w="9525">
            <a:solidFill>
              <a:srgbClr val="F09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97880" y="4133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2B13"/>
                </a:solidFill>
              </a:defRPr>
            </a:pPr>
            <a:r>
              <a:t>Configuration item</a:t>
            </a:r>
          </a:p>
        </p:txBody>
      </p:sp>
      <p:sp>
        <p:nvSpPr>
          <p:cNvPr id="96" name="Oval 95"/>
          <p:cNvSpPr/>
          <p:nvPr/>
        </p:nvSpPr>
        <p:spPr>
          <a:xfrm>
            <a:off x="5897880" y="441655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16752" y="436168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Databricks - Corporate Market Workspace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21040" y="4059936"/>
            <a:ext cx="2743200" cy="1371600"/>
          </a:xfrm>
          <a:prstGeom prst="roundRect">
            <a:avLst/>
          </a:prstGeom>
          <a:solidFill>
            <a:srgbClr val="FAECE7"/>
          </a:solidFill>
          <a:ln w="9525">
            <a:solidFill>
              <a:srgbClr val="F09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58200" y="41330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2B13"/>
                </a:solidFill>
              </a:defRPr>
            </a:pPr>
            <a:r>
              <a:t>Configuration items</a:t>
            </a:r>
          </a:p>
        </p:txBody>
      </p:sp>
      <p:sp>
        <p:nvSpPr>
          <p:cNvPr id="100" name="Oval 99"/>
          <p:cNvSpPr/>
          <p:nvPr/>
        </p:nvSpPr>
        <p:spPr>
          <a:xfrm>
            <a:off x="8458200" y="441655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77072" y="43616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Quantlake</a:t>
            </a:r>
          </a:p>
        </p:txBody>
      </p:sp>
      <p:sp>
        <p:nvSpPr>
          <p:cNvPr id="102" name="Oval 101"/>
          <p:cNvSpPr/>
          <p:nvPr/>
        </p:nvSpPr>
        <p:spPr>
          <a:xfrm>
            <a:off x="8458200" y="459943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77072" y="454456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Quantlake Infrastructure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1247120" y="4059936"/>
            <a:ext cx="2377440" cy="1371600"/>
          </a:xfrm>
          <a:prstGeom prst="roundRect">
            <a:avLst/>
          </a:prstGeom>
          <a:solidFill>
            <a:srgbClr val="FAECE7"/>
          </a:solidFill>
          <a:ln w="9525">
            <a:solidFill>
              <a:srgbClr val="F09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384280" y="4133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12B13"/>
                </a:solidFill>
              </a:defRPr>
            </a:pPr>
            <a:r>
              <a:t>Configuration item</a:t>
            </a:r>
          </a:p>
        </p:txBody>
      </p:sp>
      <p:sp>
        <p:nvSpPr>
          <p:cNvPr id="106" name="Oval 105"/>
          <p:cNvSpPr/>
          <p:nvPr/>
        </p:nvSpPr>
        <p:spPr>
          <a:xfrm>
            <a:off x="11384280" y="4416552"/>
            <a:ext cx="54864" cy="54864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503152" y="436168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93C1D"/>
                </a:solidFill>
              </a:defRPr>
            </a:pPr>
            <a:r>
              <a:t>Databricks - Alchemy Workspace</a:t>
            </a:r>
          </a:p>
        </p:txBody>
      </p:sp>
      <p:sp>
        <p:nvSpPr>
          <p:cNvPr id="108" name="Down Arrow 107"/>
          <p:cNvSpPr/>
          <p:nvPr/>
        </p:nvSpPr>
        <p:spPr>
          <a:xfrm>
            <a:off x="1591056" y="5477256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own Arrow 108"/>
          <p:cNvSpPr/>
          <p:nvPr/>
        </p:nvSpPr>
        <p:spPr>
          <a:xfrm>
            <a:off x="4334256" y="5477256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own Arrow 109"/>
          <p:cNvSpPr/>
          <p:nvPr/>
        </p:nvSpPr>
        <p:spPr>
          <a:xfrm>
            <a:off x="6894576" y="5477256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own Arrow 110"/>
          <p:cNvSpPr/>
          <p:nvPr/>
        </p:nvSpPr>
        <p:spPr>
          <a:xfrm>
            <a:off x="9637776" y="5477256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own Arrow 111"/>
          <p:cNvSpPr/>
          <p:nvPr/>
        </p:nvSpPr>
        <p:spPr>
          <a:xfrm>
            <a:off x="12380976" y="5477256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74320" y="5705856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88888"/>
                </a:solidFill>
              </a:defRPr>
            </a:pPr>
            <a:r>
              <a:t>SERVICE PRINCIPALS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011680" y="5797296"/>
            <a:ext cx="12344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274320" y="5961888"/>
            <a:ext cx="2743200" cy="640080"/>
          </a:xfrm>
          <a:prstGeom prst="roundRect">
            <a:avLst/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11479" y="6035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85041"/>
                </a:solidFill>
              </a:defRPr>
            </a:pPr>
            <a:r>
              <a:t>Deploying to prod</a:t>
            </a:r>
          </a:p>
        </p:txBody>
      </p:sp>
      <p:sp>
        <p:nvSpPr>
          <p:cNvPr id="117" name="Oval 116"/>
          <p:cNvSpPr/>
          <p:nvPr/>
        </p:nvSpPr>
        <p:spPr>
          <a:xfrm>
            <a:off x="411479" y="6318504"/>
            <a:ext cx="54864" cy="5486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30352" y="626364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6E56"/>
                </a:solidFill>
              </a:defRPr>
            </a:pPr>
            <a:r>
              <a:t>sp-app-env-enterprised-pr</a:t>
            </a:r>
          </a:p>
        </p:txBody>
      </p:sp>
      <p:sp>
        <p:nvSpPr>
          <p:cNvPr id="119" name="Oval 118"/>
          <p:cNvSpPr/>
          <p:nvPr/>
        </p:nvSpPr>
        <p:spPr>
          <a:xfrm>
            <a:off x="411479" y="6501384"/>
            <a:ext cx="54864" cy="5486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0352" y="64465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6E56"/>
                </a:solidFill>
              </a:defRPr>
            </a:pPr>
            <a:r>
              <a:t>sp-app-dataplatform-metadata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200400" y="5961888"/>
            <a:ext cx="2377440" cy="640080"/>
          </a:xfrm>
          <a:prstGeom prst="roundRect">
            <a:avLst/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37560" y="6035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85041"/>
                </a:solidFill>
              </a:defRPr>
            </a:pPr>
            <a:r>
              <a:t>Deploying to prod</a:t>
            </a:r>
          </a:p>
        </p:txBody>
      </p:sp>
      <p:sp>
        <p:nvSpPr>
          <p:cNvPr id="123" name="Oval 122"/>
          <p:cNvSpPr/>
          <p:nvPr/>
        </p:nvSpPr>
        <p:spPr>
          <a:xfrm>
            <a:off x="3337560" y="6318504"/>
            <a:ext cx="54864" cy="5486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456432" y="62636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6E56"/>
                </a:solidFill>
              </a:defRPr>
            </a:pPr>
            <a:r>
              <a:t>sp-app-dbricks-uc-private-markets-pr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760720" y="5961888"/>
            <a:ext cx="2377440" cy="640080"/>
          </a:xfrm>
          <a:prstGeom prst="roundRect">
            <a:avLst/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897880" y="6035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85041"/>
                </a:solidFill>
              </a:defRPr>
            </a:pPr>
            <a:r>
              <a:t>Deploying to prod</a:t>
            </a:r>
          </a:p>
        </p:txBody>
      </p:sp>
      <p:sp>
        <p:nvSpPr>
          <p:cNvPr id="127" name="Oval 126"/>
          <p:cNvSpPr/>
          <p:nvPr/>
        </p:nvSpPr>
        <p:spPr>
          <a:xfrm>
            <a:off x="5897880" y="6318504"/>
            <a:ext cx="54864" cy="5486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016752" y="62636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6E56"/>
                </a:solidFill>
              </a:defRPr>
            </a:pPr>
            <a:r>
              <a:t>sp-app-bricks-uc-corporate-market-pr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321040" y="5961888"/>
            <a:ext cx="2743200" cy="640080"/>
          </a:xfrm>
          <a:prstGeom prst="roundRect">
            <a:avLst/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458200" y="6035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85041"/>
                </a:solidFill>
              </a:defRPr>
            </a:pPr>
            <a:r>
              <a:t>Deploying to prod</a:t>
            </a:r>
          </a:p>
        </p:txBody>
      </p:sp>
      <p:sp>
        <p:nvSpPr>
          <p:cNvPr id="131" name="Oval 130"/>
          <p:cNvSpPr/>
          <p:nvPr/>
        </p:nvSpPr>
        <p:spPr>
          <a:xfrm>
            <a:off x="8458200" y="6318504"/>
            <a:ext cx="54864" cy="5486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577072" y="626364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6E56"/>
                </a:solidFill>
              </a:defRPr>
            </a:pPr>
            <a:r>
              <a:t>sp-app-edp-quantlake-pr</a:t>
            </a:r>
          </a:p>
        </p:txBody>
      </p:sp>
      <p:sp>
        <p:nvSpPr>
          <p:cNvPr id="133" name="Oval 132"/>
          <p:cNvSpPr/>
          <p:nvPr/>
        </p:nvSpPr>
        <p:spPr>
          <a:xfrm>
            <a:off x="8458200" y="6501384"/>
            <a:ext cx="54864" cy="5486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577072" y="64465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6E56"/>
                </a:solidFill>
              </a:defRPr>
            </a:pPr>
            <a:r>
              <a:t>sp-app-edp-crisp-pr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1247120" y="5961888"/>
            <a:ext cx="2377440" cy="640080"/>
          </a:xfrm>
          <a:prstGeom prst="roundRect">
            <a:avLst/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384280" y="6035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85041"/>
                </a:solidFill>
              </a:defRPr>
            </a:pPr>
            <a:r>
              <a:t>Deploying to prod</a:t>
            </a:r>
          </a:p>
        </p:txBody>
      </p:sp>
      <p:sp>
        <p:nvSpPr>
          <p:cNvPr id="137" name="Oval 136"/>
          <p:cNvSpPr/>
          <p:nvPr/>
        </p:nvSpPr>
        <p:spPr>
          <a:xfrm>
            <a:off x="11384280" y="6318504"/>
            <a:ext cx="54864" cy="54864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503152" y="62636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6E56"/>
                </a:solidFill>
              </a:defRPr>
            </a:pPr>
            <a:r>
              <a:t>sp-app-dbricks-uc-alchemy-pr</a:t>
            </a:r>
          </a:p>
        </p:txBody>
      </p:sp>
      <p:sp>
        <p:nvSpPr>
          <p:cNvPr id="139" name="Down Arrow 138"/>
          <p:cNvSpPr/>
          <p:nvPr/>
        </p:nvSpPr>
        <p:spPr>
          <a:xfrm>
            <a:off x="1591056" y="6647688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Down Arrow 139"/>
          <p:cNvSpPr/>
          <p:nvPr/>
        </p:nvSpPr>
        <p:spPr>
          <a:xfrm>
            <a:off x="4334256" y="6647688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Down Arrow 140"/>
          <p:cNvSpPr/>
          <p:nvPr/>
        </p:nvSpPr>
        <p:spPr>
          <a:xfrm>
            <a:off x="6894576" y="6647688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Down Arrow 141"/>
          <p:cNvSpPr/>
          <p:nvPr/>
        </p:nvSpPr>
        <p:spPr>
          <a:xfrm>
            <a:off x="9637776" y="6647688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Down Arrow 142"/>
          <p:cNvSpPr/>
          <p:nvPr/>
        </p:nvSpPr>
        <p:spPr>
          <a:xfrm>
            <a:off x="12380976" y="6647688"/>
            <a:ext cx="109728" cy="164592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74320" y="6876288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88888"/>
                </a:solidFill>
              </a:defRPr>
            </a:pPr>
            <a:r>
              <a:t>DATABRICKS UNITY CATALOG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011680" y="6967728"/>
            <a:ext cx="12344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274320" y="7132320"/>
            <a:ext cx="2743200" cy="1188720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FAC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11479" y="72054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3806"/>
                </a:solidFill>
              </a:defRPr>
            </a:pPr>
            <a:r>
              <a:t>Catalogs touched by SPs</a:t>
            </a:r>
          </a:p>
        </p:txBody>
      </p:sp>
      <p:sp>
        <p:nvSpPr>
          <p:cNvPr id="148" name="Oval 147"/>
          <p:cNvSpPr/>
          <p:nvPr/>
        </p:nvSpPr>
        <p:spPr>
          <a:xfrm>
            <a:off x="411479" y="7488936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30352" y="743407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AnalyticsHub</a:t>
            </a:r>
          </a:p>
        </p:txBody>
      </p:sp>
      <p:sp>
        <p:nvSpPr>
          <p:cNvPr id="150" name="Oval 149"/>
          <p:cNvSpPr/>
          <p:nvPr/>
        </p:nvSpPr>
        <p:spPr>
          <a:xfrm>
            <a:off x="411479" y="7671815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30352" y="76169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InvestmentHub</a:t>
            </a:r>
          </a:p>
        </p:txBody>
      </p:sp>
      <p:sp>
        <p:nvSpPr>
          <p:cNvPr id="152" name="Oval 151"/>
          <p:cNvSpPr/>
          <p:nvPr/>
        </p:nvSpPr>
        <p:spPr>
          <a:xfrm>
            <a:off x="411479" y="7854695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30352" y="7799831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Enterprise Curated</a:t>
            </a:r>
          </a:p>
        </p:txBody>
      </p:sp>
      <p:sp>
        <p:nvSpPr>
          <p:cNvPr id="154" name="Oval 153"/>
          <p:cNvSpPr/>
          <p:nvPr/>
        </p:nvSpPr>
        <p:spPr>
          <a:xfrm>
            <a:off x="411479" y="8037575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30352" y="7982711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Sage</a:t>
            </a:r>
          </a:p>
        </p:txBody>
      </p:sp>
      <p:sp>
        <p:nvSpPr>
          <p:cNvPr id="156" name="Oval 155"/>
          <p:cNvSpPr/>
          <p:nvPr/>
        </p:nvSpPr>
        <p:spPr>
          <a:xfrm>
            <a:off x="411479" y="8220455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0352" y="8165591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Staging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200400" y="7132320"/>
            <a:ext cx="2377440" cy="1188720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FAC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337560" y="72054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3806"/>
                </a:solidFill>
              </a:defRPr>
            </a:pPr>
            <a:r>
              <a:t>Catalog</a:t>
            </a:r>
          </a:p>
        </p:txBody>
      </p:sp>
      <p:sp>
        <p:nvSpPr>
          <p:cNvPr id="160" name="Oval 159"/>
          <p:cNvSpPr/>
          <p:nvPr/>
        </p:nvSpPr>
        <p:spPr>
          <a:xfrm>
            <a:off x="3337560" y="7488936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56432" y="743407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Private Markets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760720" y="7132320"/>
            <a:ext cx="2377440" cy="1188720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FAC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897880" y="72054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3806"/>
                </a:solidFill>
              </a:defRPr>
            </a:pPr>
            <a:r>
              <a:t>Catalog</a:t>
            </a:r>
          </a:p>
        </p:txBody>
      </p:sp>
      <p:sp>
        <p:nvSpPr>
          <p:cNvPr id="164" name="Oval 163"/>
          <p:cNvSpPr/>
          <p:nvPr/>
        </p:nvSpPr>
        <p:spPr>
          <a:xfrm>
            <a:off x="5897880" y="7488936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016752" y="743407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Corporate Market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321040" y="7132320"/>
            <a:ext cx="2743200" cy="1188720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FAC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458200" y="72054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3806"/>
                </a:solidFill>
              </a:defRPr>
            </a:pPr>
            <a:r>
              <a:t>Catalogs</a:t>
            </a:r>
          </a:p>
        </p:txBody>
      </p:sp>
      <p:sp>
        <p:nvSpPr>
          <p:cNvPr id="168" name="Oval 167"/>
          <p:cNvSpPr/>
          <p:nvPr/>
        </p:nvSpPr>
        <p:spPr>
          <a:xfrm>
            <a:off x="8458200" y="7488936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577072" y="743407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Quant Lake</a:t>
            </a:r>
          </a:p>
        </p:txBody>
      </p:sp>
      <p:sp>
        <p:nvSpPr>
          <p:cNvPr id="170" name="Oval 169"/>
          <p:cNvSpPr/>
          <p:nvPr/>
        </p:nvSpPr>
        <p:spPr>
          <a:xfrm>
            <a:off x="8458200" y="7671815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577072" y="76169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Crisp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1247120" y="7132320"/>
            <a:ext cx="2377440" cy="1188720"/>
          </a:xfrm>
          <a:prstGeom prst="roundRect">
            <a:avLst/>
          </a:prstGeom>
          <a:solidFill>
            <a:srgbClr val="FAEEDA"/>
          </a:solidFill>
          <a:ln w="9525">
            <a:solidFill>
              <a:srgbClr val="FAC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1384280" y="72054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3806"/>
                </a:solidFill>
              </a:defRPr>
            </a:pPr>
            <a:r>
              <a:t>Catalog</a:t>
            </a:r>
          </a:p>
        </p:txBody>
      </p:sp>
      <p:sp>
        <p:nvSpPr>
          <p:cNvPr id="174" name="Oval 173"/>
          <p:cNvSpPr/>
          <p:nvPr/>
        </p:nvSpPr>
        <p:spPr>
          <a:xfrm>
            <a:off x="11384280" y="7488936"/>
            <a:ext cx="54864" cy="54864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1503152" y="743407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4F0B"/>
                </a:solidFill>
              </a:defRPr>
            </a:pPr>
            <a:r>
              <a:t>Alchemy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